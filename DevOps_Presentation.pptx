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57" r:id="rId4"/>
    <p:sldId id="273" r:id="rId5"/>
    <p:sldId id="260" r:id="rId6"/>
    <p:sldId id="258" r:id="rId7"/>
    <p:sldId id="261" r:id="rId8"/>
    <p:sldId id="262" r:id="rId9"/>
    <p:sldId id="263" r:id="rId10"/>
    <p:sldId id="264" r:id="rId11"/>
    <p:sldId id="271" r:id="rId12"/>
    <p:sldId id="272" r:id="rId13"/>
    <p:sldId id="267" r:id="rId14"/>
    <p:sldId id="268" r:id="rId15"/>
    <p:sldId id="270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F6F4-78F5-6756-CB90-B92A06B42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184355"/>
          </a:xfrm>
        </p:spPr>
        <p:txBody>
          <a:bodyPr/>
          <a:lstStyle/>
          <a:p>
            <a:pPr algn="ctr"/>
            <a:r>
              <a:rPr lang="en-US" sz="6600" dirty="0"/>
              <a:t>Cloud Tasks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9D2D5-9253-9ACC-6211-BEE55AFF5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594" y="2008238"/>
            <a:ext cx="8825658" cy="3674807"/>
          </a:xfrm>
        </p:spPr>
        <p:txBody>
          <a:bodyPr>
            <a:noAutofit/>
          </a:bodyPr>
          <a:lstStyle/>
          <a:p>
            <a:r>
              <a:rPr lang="en-US" sz="2400" dirty="0"/>
              <a:t>A cloud-native Task Manager application allowing to create and manage everyday tasks.</a:t>
            </a:r>
          </a:p>
          <a:p>
            <a:r>
              <a:rPr lang="en-US" sz="2400" dirty="0"/>
              <a:t>built with Python Flask and React, containerized with Docker, and deployed on AWS using Kubernetes and Terraform.</a:t>
            </a:r>
          </a:p>
          <a:p>
            <a:r>
              <a:rPr lang="en-US" sz="2400" dirty="0"/>
              <a:t>The app includes an AI-powered assistant (OpenAI GPT-4o) that gives productivity advice on tasks.</a:t>
            </a:r>
          </a:p>
        </p:txBody>
      </p:sp>
    </p:spTree>
    <p:extLst>
      <p:ext uri="{BB962C8B-B14F-4D97-AF65-F5344CB8AC3E}">
        <p14:creationId xmlns:p14="http://schemas.microsoft.com/office/powerpoint/2010/main" val="48964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9006A08-380C-895E-78BC-631B89629EA4}"/>
              </a:ext>
            </a:extLst>
          </p:cNvPr>
          <p:cNvSpPr txBox="1">
            <a:spLocks/>
          </p:cNvSpPr>
          <p:nvPr/>
        </p:nvSpPr>
        <p:spPr>
          <a:xfrm>
            <a:off x="1774286" y="1897625"/>
            <a:ext cx="8643427" cy="33724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600" b="1" dirty="0"/>
              <a:t>Contributors</a:t>
            </a:r>
          </a:p>
          <a:p>
            <a:pPr marL="342900" indent="-342900">
              <a:buFontTx/>
              <a:buChar char="-"/>
            </a:pPr>
            <a:r>
              <a:rPr lang="en-US" sz="2600" b="1" dirty="0"/>
              <a:t>Shay </a:t>
            </a:r>
            <a:r>
              <a:rPr lang="en-US" sz="2600" b="1" dirty="0" err="1"/>
              <a:t>haba</a:t>
            </a:r>
            <a:endParaRPr lang="en-US" sz="2600" b="1" dirty="0"/>
          </a:p>
          <a:p>
            <a:r>
              <a:rPr lang="en-US" sz="2600" cap="none" dirty="0"/>
              <a:t>https://github.com/shayhaba</a:t>
            </a:r>
          </a:p>
          <a:p>
            <a:pPr marL="342900" indent="-342900">
              <a:buFontTx/>
              <a:buChar char="-"/>
            </a:pPr>
            <a:r>
              <a:rPr lang="en-US" sz="2600" b="1" dirty="0"/>
              <a:t>Solomon Yaakobov</a:t>
            </a:r>
          </a:p>
          <a:p>
            <a:r>
              <a:rPr lang="en-US" sz="2600" cap="none" dirty="0"/>
              <a:t>https://github.com/solomonyaa</a:t>
            </a:r>
          </a:p>
        </p:txBody>
      </p:sp>
    </p:spTree>
    <p:extLst>
      <p:ext uri="{BB962C8B-B14F-4D97-AF65-F5344CB8AC3E}">
        <p14:creationId xmlns:p14="http://schemas.microsoft.com/office/powerpoint/2010/main" val="201419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502D-4235-4EF9-158E-BBF6A3B3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758E-046F-A85C-9115-A82F2E216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76982"/>
            <a:ext cx="8825658" cy="1219200"/>
          </a:xfrm>
        </p:spPr>
        <p:txBody>
          <a:bodyPr/>
          <a:lstStyle/>
          <a:p>
            <a:pPr algn="ctr"/>
            <a:r>
              <a:rPr lang="en-US" sz="6000" dirty="0"/>
              <a:t>Tech Stack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ECF75A-6A57-A22B-AEA3-3913AB61E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858508"/>
              </p:ext>
            </p:extLst>
          </p:nvPr>
        </p:nvGraphicFramePr>
        <p:xfrm>
          <a:off x="1668208" y="1641987"/>
          <a:ext cx="8128000" cy="4719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798306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17259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521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Flask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25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React, Vite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38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 (local: Docker, production: AWS RDS)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36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Containerization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Docker, Docker Compose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00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Container Orchestration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Kubernetes (AWS EKS)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84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Infrastructure as Code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Terraform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303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27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CI/CD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 Actions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85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 Control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Git, GitHub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9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OpenAI GPT-4o, Claude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62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Monitoring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Prometheus, Grafana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142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55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Cloud Architecture</a:t>
            </a:r>
          </a:p>
        </p:txBody>
      </p:sp>
      <p:sp>
        <p:nvSpPr>
          <p:cNvPr id="10" name="VPC Box"/>
          <p:cNvSpPr/>
          <p:nvPr/>
        </p:nvSpPr>
        <p:spPr>
          <a:xfrm>
            <a:off x="586000" y="1600000"/>
            <a:ext cx="11020000" cy="3500000"/>
          </a:xfrm>
          <a:prstGeom prst="rect">
            <a:avLst/>
          </a:prstGeom>
          <a:noFill/>
          <a:ln w="28575">
            <a:solidFill>
              <a:srgbClr val="5484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VPC Label"/>
          <p:cNvSpPr/>
          <p:nvPr/>
        </p:nvSpPr>
        <p:spPr>
          <a:xfrm>
            <a:off x="700000" y="1620000"/>
            <a:ext cx="6500000" cy="2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AWS VPC — 10.0.0.0/16 ·  us-east-1</a:t>
            </a:r>
          </a:p>
        </p:txBody>
      </p:sp>
      <p:sp>
        <p:nvSpPr>
          <p:cNvPr id="12" name="Public Header"/>
          <p:cNvSpPr/>
          <p:nvPr/>
        </p:nvSpPr>
        <p:spPr>
          <a:xfrm>
            <a:off x="750000" y="1980000"/>
            <a:ext cx="4900000" cy="2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E6B729"/>
                </a:solidFill>
              </a:rPr>
              <a:t>Public Subnets (us-east-1b / us-east-1c)</a:t>
            </a:r>
          </a:p>
        </p:txBody>
      </p:sp>
      <p:sp>
        <p:nvSpPr>
          <p:cNvPr id="13" name="Private Header"/>
          <p:cNvSpPr/>
          <p:nvPr/>
        </p:nvSpPr>
        <p:spPr>
          <a:xfrm>
            <a:off x="5950000" y="1980000"/>
            <a:ext cx="5550000" cy="2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6AAC90"/>
                </a:solidFill>
              </a:rPr>
              <a:t>Private Subnets (us-east-1b / us-east-1c)</a:t>
            </a:r>
          </a:p>
        </p:txBody>
      </p:sp>
      <p:sp>
        <p:nvSpPr>
          <p:cNvPr id="14" name="Box LB"/>
          <p:cNvSpPr/>
          <p:nvPr/>
        </p:nvSpPr>
        <p:spPr>
          <a:xfrm>
            <a:off x="750000" y="2300000"/>
            <a:ext cx="4900000" cy="125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E6B729"/>
            </a:solidFill>
          </a:ln>
        </p:spPr>
        <p:txBody>
          <a:bodyPr lIns="137160" tIns="45720" rIns="137160" bIns="4572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Balancer</a:t>
            </a:r>
          </a:p>
          <a:p>
            <a:pPr algn="ctr">
              <a:buNone/>
            </a:pPr>
            <a:r>
              <a:rPr lang="en-US" sz="1400" dirty="0">
                <a:solidFill>
                  <a:srgbClr val="EBEBEB"/>
                </a:solidFill>
              </a:rPr>
              <a:t>NGINX Ingress Controller (installed via Helm)</a:t>
            </a:r>
          </a:p>
        </p:txBody>
      </p:sp>
      <p:sp>
        <p:nvSpPr>
          <p:cNvPr id="15" name="Box NAT"/>
          <p:cNvSpPr/>
          <p:nvPr/>
        </p:nvSpPr>
        <p:spPr>
          <a:xfrm>
            <a:off x="750000" y="3750000"/>
            <a:ext cx="4900000" cy="125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E6B729"/>
            </a:solidFill>
          </a:ln>
        </p:spPr>
        <p:txBody>
          <a:bodyPr lIns="137160" tIns="45720" rIns="137160" bIns="4572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NAT Gateway</a:t>
            </a:r>
          </a:p>
          <a:p>
            <a:pPr algn="ctr">
              <a:buNone/>
            </a:pPr>
            <a:r>
              <a:rPr lang="en-US" sz="1400" dirty="0">
                <a:solidFill>
                  <a:srgbClr val="EBEBEB"/>
                </a:solidFill>
              </a:rPr>
              <a:t>Outbound internet for private subnets</a:t>
            </a:r>
          </a:p>
        </p:txBody>
      </p:sp>
      <p:sp>
        <p:nvSpPr>
          <p:cNvPr id="16" name="Box EKS"/>
          <p:cNvSpPr/>
          <p:nvPr/>
        </p:nvSpPr>
        <p:spPr>
          <a:xfrm>
            <a:off x="5950000" y="2300000"/>
            <a:ext cx="5550000" cy="57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6AAC90"/>
            </a:solidFill>
          </a:ln>
        </p:spPr>
        <p:txBody>
          <a:bodyPr lIns="137160" tIns="22860" rIns="137160" bIns="2286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EKS Worker Nodes</a:t>
            </a:r>
            <a:r>
              <a:rPr lang="en-US" sz="1400" dirty="0">
                <a:solidFill>
                  <a:srgbClr val="EBEBEB"/>
                </a:solidFill>
              </a:rPr>
              <a:t>  —  cloudtasks-cluster </a:t>
            </a:r>
            <a:r>
              <a:rPr lang="en-US" sz="1400">
                <a:solidFill>
                  <a:srgbClr val="EBEBEB"/>
                </a:solidFill>
              </a:rPr>
              <a:t>· 2 × </a:t>
            </a:r>
            <a:r>
              <a:rPr lang="en-US" sz="1400" dirty="0">
                <a:solidFill>
                  <a:srgbClr val="EBEBEB"/>
                </a:solidFill>
              </a:rPr>
              <a:t>t3.medium</a:t>
            </a:r>
          </a:p>
        </p:txBody>
      </p:sp>
      <p:sp>
        <p:nvSpPr>
          <p:cNvPr id="17" name="Box Bastion"/>
          <p:cNvSpPr/>
          <p:nvPr/>
        </p:nvSpPr>
        <p:spPr>
          <a:xfrm>
            <a:off x="5950000" y="2950000"/>
            <a:ext cx="5550000" cy="57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6AAC90"/>
            </a:solidFill>
          </a:ln>
        </p:spPr>
        <p:txBody>
          <a:bodyPr lIns="137160" tIns="22860" rIns="137160" bIns="2286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Bastion Host</a:t>
            </a:r>
            <a:r>
              <a:rPr lang="en-US" sz="1400" dirty="0">
                <a:solidFill>
                  <a:srgbClr val="EBEBEB"/>
                </a:solidFill>
              </a:rPr>
              <a:t>  —  SSM only, no SSH, no public IP</a:t>
            </a:r>
          </a:p>
        </p:txBody>
      </p:sp>
      <p:cxnSp>
        <p:nvCxnSpPr>
          <p:cNvPr id="18" name="Connector Bastion RDS"/>
          <p:cNvCxnSpPr/>
          <p:nvPr/>
        </p:nvCxnSpPr>
        <p:spPr>
          <a:xfrm>
            <a:off x="7150000" y="3520000"/>
            <a:ext cx="0" cy="260000"/>
          </a:xfrm>
          <a:prstGeom prst="straightConnector1">
            <a:avLst/>
          </a:prstGeom>
          <a:ln w="22225">
            <a:solidFill>
              <a:srgbClr val="B01513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nector Label"/>
          <p:cNvSpPr/>
          <p:nvPr/>
        </p:nvSpPr>
        <p:spPr>
          <a:xfrm>
            <a:off x="7300000" y="350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en-US" sz="1000" i="1" dirty="0">
                <a:solidFill>
                  <a:srgbClr val="EBEBEB"/>
                </a:solidFill>
              </a:rPr>
              <a:t>SSM tunnel :5432</a:t>
            </a:r>
          </a:p>
        </p:txBody>
      </p:sp>
      <p:sp>
        <p:nvSpPr>
          <p:cNvPr id="20" name="Box RDS"/>
          <p:cNvSpPr/>
          <p:nvPr/>
        </p:nvSpPr>
        <p:spPr>
          <a:xfrm>
            <a:off x="5950000" y="3780000"/>
            <a:ext cx="5550000" cy="57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6AAC90"/>
            </a:solidFill>
          </a:ln>
        </p:spPr>
        <p:txBody>
          <a:bodyPr lIns="137160" tIns="22860" rIns="137160" bIns="2286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RDS PostgreSQL </a:t>
            </a:r>
            <a:r>
              <a:rPr lang="en-US" sz="1400" dirty="0">
                <a:solidFill>
                  <a:srgbClr val="EBEBEB"/>
                </a:solidFill>
              </a:rPr>
              <a:t>—  taskdb · KMS-encrypted · private only</a:t>
            </a:r>
          </a:p>
        </p:txBody>
      </p:sp>
      <p:sp>
        <p:nvSpPr>
          <p:cNvPr id="21" name="Box Endpoints"/>
          <p:cNvSpPr/>
          <p:nvPr/>
        </p:nvSpPr>
        <p:spPr>
          <a:xfrm>
            <a:off x="5950000" y="4430000"/>
            <a:ext cx="5550000" cy="57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6AAC90"/>
            </a:solidFill>
          </a:ln>
        </p:spPr>
        <p:txBody>
          <a:bodyPr lIns="137160" tIns="22860" rIns="137160" bIns="2286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VPC Interface Endpoints</a:t>
            </a:r>
            <a:r>
              <a:rPr lang="en-US" sz="1400" dirty="0">
                <a:solidFill>
                  <a:srgbClr val="EBEBEB"/>
                </a:solidFill>
              </a:rPr>
              <a:t>  —  SSM · KMS · CloudWatch · S3</a:t>
            </a:r>
          </a:p>
        </p:txBody>
      </p:sp>
      <p:sp>
        <p:nvSpPr>
          <p:cNvPr id="22" name="Box S3"/>
          <p:cNvSpPr/>
          <p:nvPr/>
        </p:nvSpPr>
        <p:spPr>
          <a:xfrm>
            <a:off x="586000" y="5250000"/>
            <a:ext cx="11020000" cy="55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54849A"/>
            </a:solidFill>
          </a:ln>
        </p:spPr>
        <p:txBody>
          <a:bodyPr lIns="137160" tIns="22860" rIns="137160" bIns="2286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S3 — cloudtasks-tfstate</a:t>
            </a:r>
            <a:r>
              <a:rPr lang="en-US" sz="1400" dirty="0">
                <a:solidFill>
                  <a:srgbClr val="EBEBEB"/>
                </a:solidFill>
              </a:rPr>
              <a:t>  ·  Terraform remote state (outside the VPC)</a:t>
            </a:r>
          </a:p>
        </p:txBody>
      </p:sp>
      <p:sp>
        <p:nvSpPr>
          <p:cNvPr id="23" name="Footnote"/>
          <p:cNvSpPr/>
          <p:nvPr/>
        </p:nvSpPr>
        <p:spPr>
          <a:xfrm>
            <a:off x="586000" y="5920000"/>
            <a:ext cx="1102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400" i="1" dirty="0">
                <a:solidFill>
                  <a:srgbClr val="B9C9CC"/>
                </a:solidFill>
              </a:rPr>
              <a:t>Provisioned by terraform-apply.yml · Destroyed by terraform-destroy.yml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B618-1B63-D22B-1F54-911BB422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82425-7F6F-92C6-9FC9-45655F62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28" y="481780"/>
            <a:ext cx="9404723" cy="1120877"/>
          </a:xfrm>
        </p:spPr>
        <p:txBody>
          <a:bodyPr/>
          <a:lstStyle/>
          <a:p>
            <a:pPr algn="ctr"/>
            <a:r>
              <a:rPr lang="en-US" sz="6600" dirty="0" err="1"/>
              <a:t>Github</a:t>
            </a:r>
            <a:r>
              <a:rPr lang="en-US" sz="6600" dirty="0"/>
              <a:t> Workflows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430065-F6B0-B198-D94C-43AE761E9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444" y="1747932"/>
            <a:ext cx="8026311" cy="450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0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98E7-B097-EB13-B21E-3A4D2BB2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CI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DEA2-DCB3-219D-147E-33EC8716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CI (</a:t>
            </a:r>
            <a:r>
              <a:rPr lang="en-US" sz="2400" dirty="0" err="1"/>
              <a:t>ci.yml</a:t>
            </a:r>
            <a:r>
              <a:rPr lang="en-US" sz="2400" dirty="0"/>
              <a:t>) — triggers on every Pull Request to main</a:t>
            </a:r>
          </a:p>
          <a:p>
            <a:r>
              <a:rPr lang="en-US" sz="2400" dirty="0"/>
              <a:t>Lint with Flake8</a:t>
            </a:r>
          </a:p>
          <a:p>
            <a:r>
              <a:rPr lang="en-US" sz="2400" dirty="0"/>
              <a:t>Run </a:t>
            </a:r>
            <a:r>
              <a:rPr lang="en-US" sz="2400" dirty="0" err="1"/>
              <a:t>pytest</a:t>
            </a:r>
            <a:r>
              <a:rPr lang="en-US" sz="2400" dirty="0"/>
              <a:t> unit tests with SQLite in memory</a:t>
            </a:r>
          </a:p>
          <a:p>
            <a:r>
              <a:rPr lang="en-US" sz="2400" dirty="0"/>
              <a:t>Build and start full Docker stack with PostgreSQL using docker compose</a:t>
            </a:r>
          </a:p>
          <a:p>
            <a:r>
              <a:rPr lang="en-US" sz="2400" dirty="0"/>
              <a:t>Integration tests for all API endpoints</a:t>
            </a:r>
          </a:p>
          <a:p>
            <a:r>
              <a:rPr lang="en-US" sz="2400" dirty="0"/>
              <a:t>Verify DB state after each operation</a:t>
            </a:r>
          </a:p>
          <a:p>
            <a:r>
              <a:rPr lang="en-US" sz="2400" dirty="0"/>
              <a:t>Cleanup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440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2A34-C4E3-842E-21D0-A2A69294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7058-9876-42E7-C72B-F4C441A5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CD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6BC06-8A17-15BC-9CFE-0577D985D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CD (</a:t>
            </a:r>
            <a:r>
              <a:rPr lang="en-US" sz="2400" dirty="0" err="1"/>
              <a:t>cd.yml</a:t>
            </a:r>
            <a:r>
              <a:rPr lang="en-US" sz="2400" dirty="0"/>
              <a:t>) — triggers on merge to main (Main branch is protected and requires a review to merge)</a:t>
            </a:r>
          </a:p>
          <a:p>
            <a:r>
              <a:rPr lang="en-US" sz="2400" dirty="0"/>
              <a:t>Login to Docker Hub</a:t>
            </a:r>
          </a:p>
          <a:p>
            <a:r>
              <a:rPr lang="en-US" sz="2400" dirty="0"/>
              <a:t>Build Docker image using </a:t>
            </a:r>
            <a:r>
              <a:rPr lang="en-US" sz="2400" dirty="0" err="1"/>
              <a:t>Dockerfile</a:t>
            </a:r>
            <a:r>
              <a:rPr lang="en-US" sz="2400" dirty="0"/>
              <a:t> (multi-stage image building – react (frontend) and python (backend)</a:t>
            </a:r>
          </a:p>
          <a:p>
            <a:r>
              <a:rPr lang="en-US" sz="2400" dirty="0"/>
              <a:t>Push to Docker Hub with two tags:</a:t>
            </a:r>
          </a:p>
          <a:p>
            <a:pPr lvl="1"/>
            <a:r>
              <a:rPr lang="en-US" sz="2400" dirty="0"/>
              <a:t>latest — always the newest version</a:t>
            </a:r>
          </a:p>
          <a:p>
            <a:pPr lvl="1"/>
            <a:r>
              <a:rPr lang="en-US" sz="2400" dirty="0"/>
              <a:t>&lt;commit-sha&gt; — unique tag per commit for rollback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833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839F-1E1F-0008-AC41-337EB375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3B26-F3EC-5ECF-0D6A-39FF42FB4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Terraform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1EDA-032A-63B7-F613-E148C7C54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25677"/>
            <a:ext cx="8946541" cy="4822723"/>
          </a:xfrm>
        </p:spPr>
        <p:txBody>
          <a:bodyPr>
            <a:noAutofit/>
          </a:bodyPr>
          <a:lstStyle/>
          <a:p>
            <a:r>
              <a:rPr lang="en-US" sz="2200" dirty="0"/>
              <a:t>Terraform Apply (terraform-</a:t>
            </a:r>
            <a:r>
              <a:rPr lang="en-US" sz="2200" dirty="0" err="1"/>
              <a:t>apply.yml</a:t>
            </a:r>
            <a:r>
              <a:rPr lang="en-US" sz="2200" dirty="0"/>
              <a:t>) — manual trigger</a:t>
            </a:r>
          </a:p>
          <a:p>
            <a:r>
              <a:rPr lang="en-US" sz="2200" dirty="0"/>
              <a:t>Configure AWS credentials</a:t>
            </a:r>
          </a:p>
          <a:p>
            <a:r>
              <a:rPr lang="en-US" sz="2200" dirty="0"/>
              <a:t>Create S3 state bucket if not exists (used for uploading the TF state file for synching the terraform state)</a:t>
            </a:r>
          </a:p>
          <a:p>
            <a:r>
              <a:rPr lang="en-US" sz="2200" dirty="0"/>
              <a:t>Terraform </a:t>
            </a:r>
            <a:r>
              <a:rPr lang="en-US" sz="2200" dirty="0" err="1"/>
              <a:t>init</a:t>
            </a:r>
            <a:r>
              <a:rPr lang="en-US" sz="2200" dirty="0"/>
              <a:t>, format, validate, import existing resources, plan</a:t>
            </a:r>
          </a:p>
          <a:p>
            <a:r>
              <a:rPr lang="en-US" sz="2200" dirty="0"/>
              <a:t>Terraform apply</a:t>
            </a:r>
          </a:p>
          <a:p>
            <a:r>
              <a:rPr lang="en-US" sz="2200" dirty="0"/>
              <a:t>Show terraform outputs, Save RDS endpoint to GitHub Secrets so deploy-to-</a:t>
            </a:r>
            <a:r>
              <a:rPr lang="en-US" sz="2200" dirty="0" err="1"/>
              <a:t>eks</a:t>
            </a:r>
            <a:r>
              <a:rPr lang="en-US" sz="2200" dirty="0"/>
              <a:t> can use it (using Personal Access Token)</a:t>
            </a:r>
          </a:p>
          <a:p>
            <a:r>
              <a:rPr lang="en-US" sz="2200" dirty="0"/>
              <a:t>Update </a:t>
            </a:r>
            <a:r>
              <a:rPr lang="en-US" sz="2200" dirty="0" err="1"/>
              <a:t>kubeconfig</a:t>
            </a:r>
            <a:r>
              <a:rPr lang="en-US" sz="2200" dirty="0"/>
              <a:t> and verify EKS connection</a:t>
            </a:r>
          </a:p>
          <a:p>
            <a:r>
              <a:rPr lang="en-US" sz="2200" dirty="0"/>
              <a:t>Install NGINX Ingress Controller, Prometheus and Grafana</a:t>
            </a:r>
          </a:p>
          <a:p>
            <a:r>
              <a:rPr lang="en-US" sz="2200" dirty="0"/>
              <a:t>Get app load balancer URL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9708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21295-D07E-A396-04F9-37EC393D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B488D-5701-79D7-13A7-6A6F40D7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Deploy to EKS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3C594-E1C1-0053-9F68-D4B803915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635" y="1317523"/>
            <a:ext cx="9927501" cy="4822723"/>
          </a:xfrm>
        </p:spPr>
        <p:txBody>
          <a:bodyPr>
            <a:noAutofit/>
          </a:bodyPr>
          <a:lstStyle/>
          <a:p>
            <a:r>
              <a:rPr lang="en-US" sz="2200" dirty="0"/>
              <a:t>Deploy to EKS (deploy-to-</a:t>
            </a:r>
            <a:r>
              <a:rPr lang="en-US" sz="2200" dirty="0" err="1"/>
              <a:t>eks.yml</a:t>
            </a:r>
            <a:r>
              <a:rPr lang="en-US" sz="2200" dirty="0"/>
              <a:t>) — manual trigger</a:t>
            </a:r>
          </a:p>
          <a:p>
            <a:r>
              <a:rPr lang="en-US" sz="2200" dirty="0"/>
              <a:t>Configure AWS credentials</a:t>
            </a:r>
          </a:p>
          <a:p>
            <a:r>
              <a:rPr lang="en-US" sz="2200" dirty="0"/>
              <a:t>Update </a:t>
            </a:r>
            <a:r>
              <a:rPr lang="en-US" sz="2200" dirty="0" err="1"/>
              <a:t>kubeconfig</a:t>
            </a:r>
            <a:r>
              <a:rPr lang="en-US" sz="2200" dirty="0"/>
              <a:t> so </a:t>
            </a:r>
            <a:r>
              <a:rPr lang="en-US" sz="2200" dirty="0" err="1"/>
              <a:t>kubectl</a:t>
            </a:r>
            <a:r>
              <a:rPr lang="en-US" sz="2200" dirty="0"/>
              <a:t> knows to talk to </a:t>
            </a:r>
            <a:r>
              <a:rPr lang="en-US" sz="2200" dirty="0" err="1"/>
              <a:t>cloudtasks</a:t>
            </a:r>
            <a:r>
              <a:rPr lang="en-US" sz="2200" dirty="0"/>
              <a:t>-cluster</a:t>
            </a:r>
          </a:p>
          <a:p>
            <a:r>
              <a:rPr lang="en-US" sz="2200" dirty="0"/>
              <a:t>Create </a:t>
            </a:r>
            <a:r>
              <a:rPr lang="en-US" sz="2200" dirty="0" err="1"/>
              <a:t>DockerHub</a:t>
            </a:r>
            <a:r>
              <a:rPr lang="en-US" sz="2200" dirty="0"/>
              <a:t> pull secret so the cluster can pull the image from </a:t>
            </a:r>
            <a:r>
              <a:rPr lang="en-US" sz="2200" dirty="0" err="1"/>
              <a:t>DockerHub</a:t>
            </a:r>
            <a:endParaRPr lang="en-US" sz="2200" dirty="0"/>
          </a:p>
          <a:p>
            <a:r>
              <a:rPr lang="en-US" sz="2200" dirty="0"/>
              <a:t>Create Kubernetes secret with DB and OpenAI credentials so pods can use them</a:t>
            </a:r>
          </a:p>
          <a:p>
            <a:r>
              <a:rPr lang="en-US" sz="2200" dirty="0"/>
              <a:t>Apply Kubernetes manifests (namespace, deployment, service, ingress)</a:t>
            </a:r>
          </a:p>
          <a:p>
            <a:r>
              <a:rPr lang="en-US" sz="2200" dirty="0"/>
              <a:t>Deploy latest image to EKS</a:t>
            </a:r>
          </a:p>
          <a:p>
            <a:r>
              <a:rPr lang="en-US" sz="2200" dirty="0"/>
              <a:t>Print app URL and Grafana URL</a:t>
            </a:r>
          </a:p>
          <a:p>
            <a:r>
              <a:rPr lang="en-US" sz="2200" dirty="0"/>
              <a:t>Debug pods status on failure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0748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4F24-4211-6359-1FE1-B10A3D6C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FDAA-04CF-77F4-84BB-6654EA35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Terraform Destroy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814D-3A1D-949A-3510-C1326201F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2322"/>
            <a:ext cx="8946541" cy="4930877"/>
          </a:xfrm>
        </p:spPr>
        <p:txBody>
          <a:bodyPr>
            <a:normAutofit/>
          </a:bodyPr>
          <a:lstStyle/>
          <a:p>
            <a:r>
              <a:rPr lang="en-US" sz="2400" dirty="0"/>
              <a:t>Terraform Destroy (terraform-</a:t>
            </a:r>
            <a:r>
              <a:rPr lang="en-US" sz="2400" dirty="0" err="1"/>
              <a:t>destroy.yml</a:t>
            </a:r>
            <a:r>
              <a:rPr lang="en-US" sz="2400" dirty="0"/>
              <a:t>) — manual trigger with confirmation (Requires typing "destroy")</a:t>
            </a:r>
          </a:p>
          <a:p>
            <a:r>
              <a:rPr lang="en-US" sz="2400" dirty="0"/>
              <a:t>Configure AWS credentials</a:t>
            </a:r>
          </a:p>
          <a:p>
            <a:r>
              <a:rPr lang="en-US" sz="2400" dirty="0"/>
              <a:t>Terraform Init - connects to the S3 backend and loads the TF state file, so Terraform knows what resources exist</a:t>
            </a:r>
          </a:p>
          <a:p>
            <a:r>
              <a:rPr lang="en-US" sz="2400" dirty="0"/>
              <a:t>Terraform plan destroy - previews what will be deleted</a:t>
            </a:r>
          </a:p>
          <a:p>
            <a:r>
              <a:rPr lang="en-US" sz="2400" dirty="0"/>
              <a:t>Update </a:t>
            </a:r>
            <a:r>
              <a:rPr lang="en-US" sz="2400" dirty="0" err="1"/>
              <a:t>kubeconfig</a:t>
            </a:r>
            <a:r>
              <a:rPr lang="en-US" sz="2400" dirty="0"/>
              <a:t> — writes the EKS cluster connection details to ~/.</a:t>
            </a:r>
            <a:r>
              <a:rPr lang="en-US" sz="2400" dirty="0" err="1"/>
              <a:t>kube</a:t>
            </a:r>
            <a:r>
              <a:rPr lang="en-US" sz="2400" dirty="0"/>
              <a:t>/config so Helm can reach the cluster</a:t>
            </a:r>
          </a:p>
          <a:p>
            <a:r>
              <a:rPr lang="en-US" sz="2400" dirty="0"/>
              <a:t>Uninstall Helm releases (NGINX, Prometheus, Grafana)</a:t>
            </a:r>
          </a:p>
          <a:p>
            <a:r>
              <a:rPr lang="en-US" sz="2400" dirty="0"/>
              <a:t>Terraform Destroy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75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6465-7D4C-0840-B462-F1D4317C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F06E-117F-4139-9D46-57A07282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The </a:t>
            </a:r>
            <a:r>
              <a:rPr lang="en-US" sz="6000" dirty="0" err="1"/>
              <a:t>Dockerfile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60C73-4B65-EEEB-BEE3-940771655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2322"/>
            <a:ext cx="8946541" cy="4930877"/>
          </a:xfrm>
        </p:spPr>
        <p:txBody>
          <a:bodyPr>
            <a:normAutofit/>
          </a:bodyPr>
          <a:lstStyle/>
          <a:p>
            <a:r>
              <a:rPr lang="en-US" sz="2400" dirty="0"/>
              <a:t>A Multi-Stage Build – first the frontend and then the backend</a:t>
            </a:r>
          </a:p>
          <a:p>
            <a:r>
              <a:rPr lang="en-US" sz="2400" dirty="0"/>
              <a:t>Spins up a temporary Node.js environment, named frontend-builder</a:t>
            </a:r>
          </a:p>
          <a:p>
            <a:r>
              <a:rPr lang="en-US" sz="2400" dirty="0"/>
              <a:t>Copies and Installs dependencies</a:t>
            </a:r>
          </a:p>
          <a:p>
            <a:r>
              <a:rPr lang="en-US" sz="2400" dirty="0"/>
              <a:t>Copies the frontend’s (React) source code</a:t>
            </a:r>
          </a:p>
          <a:p>
            <a:r>
              <a:rPr lang="en-US" sz="2400" dirty="0"/>
              <a:t>Runs Vite's build, producing a </a:t>
            </a:r>
            <a:r>
              <a:rPr lang="en-US" sz="2400" dirty="0" err="1"/>
              <a:t>dist</a:t>
            </a:r>
            <a:r>
              <a:rPr lang="en-US" sz="2400" dirty="0"/>
              <a:t>/ folder of static HTML/CSS/JS files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8566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6ECF-D4AC-6639-1E8E-631253E7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4E92-5387-2FF2-0ACE-7EDC57A7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1120877"/>
          </a:xfrm>
        </p:spPr>
        <p:txBody>
          <a:bodyPr/>
          <a:lstStyle/>
          <a:p>
            <a:pPr algn="ctr"/>
            <a:r>
              <a:rPr lang="en-US" sz="6000" dirty="0"/>
              <a:t>The </a:t>
            </a:r>
            <a:r>
              <a:rPr lang="en-US" sz="6000" dirty="0" err="1"/>
              <a:t>Dockerfile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FA1B-BD92-6418-A621-A969BCDD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2322"/>
            <a:ext cx="8946541" cy="4930877"/>
          </a:xfrm>
        </p:spPr>
        <p:txBody>
          <a:bodyPr>
            <a:normAutofit/>
          </a:bodyPr>
          <a:lstStyle/>
          <a:p>
            <a:r>
              <a:rPr lang="en-US" sz="2400" dirty="0"/>
              <a:t>Pulls a minimal Python image</a:t>
            </a:r>
          </a:p>
          <a:p>
            <a:r>
              <a:rPr lang="en-US" sz="2400" dirty="0"/>
              <a:t>Copies and installs requirements</a:t>
            </a:r>
          </a:p>
          <a:p>
            <a:r>
              <a:rPr lang="en-US" sz="2400" dirty="0"/>
              <a:t>Copies the backend python files</a:t>
            </a:r>
          </a:p>
          <a:p>
            <a:r>
              <a:rPr lang="en-US" sz="2400" dirty="0"/>
              <a:t>Reaches into the first stage and pulls out the compiled </a:t>
            </a:r>
            <a:r>
              <a:rPr lang="en-US" sz="2400" dirty="0" err="1"/>
              <a:t>dist</a:t>
            </a:r>
            <a:r>
              <a:rPr lang="en-US" sz="2400" dirty="0"/>
              <a:t>/ folder</a:t>
            </a:r>
          </a:p>
          <a:p>
            <a:r>
              <a:rPr lang="en-US" sz="2400" dirty="0"/>
              <a:t>Creates a non-root user and gives it ownership of /app</a:t>
            </a:r>
          </a:p>
          <a:p>
            <a:r>
              <a:rPr lang="en-US" sz="2400" dirty="0"/>
              <a:t>Switches to that user</a:t>
            </a:r>
          </a:p>
          <a:p>
            <a:r>
              <a:rPr lang="en-US" sz="2400" dirty="0"/>
              <a:t>Documents that the app listens on port 5000</a:t>
            </a:r>
          </a:p>
          <a:p>
            <a:r>
              <a:rPr lang="en-US" sz="2400" dirty="0"/>
              <a:t>Runs the default command when the container starts ( CMD ["python", "Task_Manager.py"] )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1029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C1727-3756-B803-A1DF-7E9B9668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9E9-48CD-48F7-D399-C31715B4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934065"/>
          </a:xfrm>
        </p:spPr>
        <p:txBody>
          <a:bodyPr/>
          <a:lstStyle/>
          <a:p>
            <a:pPr algn="ctr"/>
            <a:r>
              <a:rPr lang="en-US" sz="6000" dirty="0"/>
              <a:t>K8S Manifests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8A79F-DFEF-9D91-5621-8932347DB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238866"/>
            <a:ext cx="8946541" cy="5314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Namespace (</a:t>
            </a:r>
            <a:r>
              <a:rPr lang="en-US" b="1" dirty="0" err="1"/>
              <a:t>namespace.yaml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Creates an isolated environment called </a:t>
            </a:r>
            <a:r>
              <a:rPr lang="en-US" dirty="0" err="1"/>
              <a:t>cloudtasks</a:t>
            </a:r>
            <a:r>
              <a:rPr lang="en-US" dirty="0"/>
              <a:t> inside the EKS cluster</a:t>
            </a:r>
          </a:p>
          <a:p>
            <a:r>
              <a:rPr lang="en-US" dirty="0"/>
              <a:t>All K8S resources (pods, services, secrets) live inside this namespace</a:t>
            </a:r>
          </a:p>
          <a:p>
            <a:r>
              <a:rPr lang="en-US" dirty="0"/>
              <a:t>Must be created first before anything else can be deployed</a:t>
            </a:r>
          </a:p>
          <a:p>
            <a:pPr marL="0" indent="0">
              <a:buNone/>
            </a:pPr>
            <a:r>
              <a:rPr lang="en-US" b="1" dirty="0"/>
              <a:t>Deployment (</a:t>
            </a:r>
            <a:r>
              <a:rPr lang="en-US" b="1" dirty="0" err="1"/>
              <a:t>deployment.yaml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Runs 2 replicas of the Flask app for high availability</a:t>
            </a:r>
          </a:p>
          <a:p>
            <a:r>
              <a:rPr lang="en-US" dirty="0"/>
              <a:t>Pulls the Docker image from </a:t>
            </a:r>
            <a:r>
              <a:rPr lang="en-US" dirty="0" err="1"/>
              <a:t>DockerHub</a:t>
            </a:r>
            <a:r>
              <a:rPr lang="en-US" dirty="0"/>
              <a:t> using a pull secret</a:t>
            </a:r>
          </a:p>
          <a:p>
            <a:r>
              <a:rPr lang="en-US" dirty="0"/>
              <a:t>Injects sensitive config (DB URL, OpenAI key) from Kubernetes secrets as environment variables</a:t>
            </a:r>
          </a:p>
          <a:p>
            <a:r>
              <a:rPr lang="en-US" dirty="0"/>
              <a:t>Sets resource requests and limits for CPU and memory</a:t>
            </a:r>
          </a:p>
          <a:p>
            <a:r>
              <a:rPr lang="en-US" dirty="0"/>
              <a:t>Readiness probe hits /</a:t>
            </a:r>
            <a:r>
              <a:rPr lang="en-US" dirty="0" err="1"/>
              <a:t>api</a:t>
            </a:r>
            <a:r>
              <a:rPr lang="en-US" dirty="0"/>
              <a:t>/health endpoint — pod only receives traffic once Flask is ready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172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491A0-2813-6826-8214-2659D694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A4A9-21C5-550A-6D70-54CDB6DEB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934065"/>
          </a:xfrm>
        </p:spPr>
        <p:txBody>
          <a:bodyPr/>
          <a:lstStyle/>
          <a:p>
            <a:pPr algn="ctr"/>
            <a:r>
              <a:rPr lang="en-US" sz="6000" dirty="0"/>
              <a:t>K8S Manifests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ECC5-CCF9-171D-F9B8-BE28E1D7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238866"/>
            <a:ext cx="8946541" cy="5314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Service (</a:t>
            </a:r>
            <a:r>
              <a:rPr lang="en-US" b="1" dirty="0" err="1"/>
              <a:t>service.yaml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Gives the pods a stable internal network address (pods themselves have dynamic IPs)</a:t>
            </a:r>
          </a:p>
          <a:p>
            <a:r>
              <a:rPr lang="en-US" dirty="0"/>
              <a:t>Type </a:t>
            </a:r>
            <a:r>
              <a:rPr lang="en-US" dirty="0" err="1"/>
              <a:t>ClusterIP</a:t>
            </a:r>
            <a:r>
              <a:rPr lang="en-US" dirty="0"/>
              <a:t> — internal only, not reachable from outside the cluster</a:t>
            </a:r>
          </a:p>
          <a:p>
            <a:r>
              <a:rPr lang="en-US" dirty="0"/>
              <a:t>Accepts traffic on port 80, forwards to port 5000 on the pod (where Flask listens)</a:t>
            </a:r>
          </a:p>
          <a:p>
            <a:r>
              <a:rPr lang="en-US" dirty="0"/>
              <a:t>Uses label selector ‘app: </a:t>
            </a:r>
            <a:r>
              <a:rPr lang="en-US" dirty="0" err="1"/>
              <a:t>cloudtasks</a:t>
            </a:r>
            <a:r>
              <a:rPr lang="en-US" dirty="0"/>
              <a:t>’ to know which pods to forward to</a:t>
            </a:r>
          </a:p>
          <a:p>
            <a:pPr marL="0" indent="0">
              <a:buNone/>
            </a:pPr>
            <a:r>
              <a:rPr lang="en-US" b="1" dirty="0"/>
              <a:t>Ingress (</a:t>
            </a:r>
            <a:r>
              <a:rPr lang="en-US" b="1" dirty="0" err="1"/>
              <a:t>ingress.yaml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Entry point for external HTTP traffic into the cluster</a:t>
            </a:r>
          </a:p>
          <a:p>
            <a:r>
              <a:rPr lang="en-US" dirty="0"/>
              <a:t>Uses NGINX Ingress Controller (installed with Helm)</a:t>
            </a:r>
          </a:p>
          <a:p>
            <a:r>
              <a:rPr lang="en-US" dirty="0"/>
              <a:t>Routes all incoming requests (/) to the Service</a:t>
            </a:r>
          </a:p>
        </p:txBody>
      </p:sp>
    </p:spTree>
    <p:extLst>
      <p:ext uri="{BB962C8B-B14F-4D97-AF65-F5344CB8AC3E}">
        <p14:creationId xmlns:p14="http://schemas.microsoft.com/office/powerpoint/2010/main" val="2360488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B91A-CAD5-0FED-EF39-52162B9D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B1C8-E12E-7961-B685-BBFCD8CCD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04800"/>
            <a:ext cx="9404723" cy="934065"/>
          </a:xfrm>
        </p:spPr>
        <p:txBody>
          <a:bodyPr/>
          <a:lstStyle/>
          <a:p>
            <a:pPr algn="ctr"/>
            <a:r>
              <a:rPr lang="en-US" sz="6000" dirty="0"/>
              <a:t>Traffic Flow</a:t>
            </a:r>
          </a:p>
        </p:txBody>
      </p:sp>
      <p:sp>
        <p:nvSpPr>
          <p:cNvPr id="3" name="Caption">
            <a:extLst>
              <a:ext uri="{FF2B5EF4-FFF2-40B4-BE49-F238E27FC236}">
                <a16:creationId xmlns:a16="http://schemas.microsoft.com/office/drawing/2014/main" id="{DEF7CE7F-442D-3C8D-1030-21CB51AB8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000" y="4550000"/>
            <a:ext cx="11020000" cy="500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BEBEB"/>
                </a:solidFill>
              </a:rPr>
              <a:t>NGINX Ingress routes external traffic to the Service, which load-balances across pods.</a:t>
            </a:r>
          </a:p>
        </p:txBody>
      </p:sp>
      <p:sp>
        <p:nvSpPr>
          <p:cNvPr id="30" name="Flow Box 1"/>
          <p:cNvSpPr/>
          <p:nvPr/>
        </p:nvSpPr>
        <p:spPr>
          <a:xfrm>
            <a:off x="586000" y="2900000"/>
            <a:ext cx="1670000" cy="130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54849A"/>
            </a:solidFill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Internet</a:t>
            </a:r>
          </a:p>
        </p:txBody>
      </p:sp>
      <p:cxnSp>
        <p:nvCxnSpPr>
          <p:cNvPr id="31" name="Arrow 1"/>
          <p:cNvCxnSpPr/>
          <p:nvPr/>
        </p:nvCxnSpPr>
        <p:spPr>
          <a:xfrm>
            <a:off x="2256000" y="3550000"/>
            <a:ext cx="200000" cy="0"/>
          </a:xfrm>
          <a:prstGeom prst="straightConnector1">
            <a:avLst/>
          </a:prstGeom>
          <a:ln w="22225">
            <a:solidFill>
              <a:srgbClr val="B01513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 Box 2"/>
          <p:cNvSpPr/>
          <p:nvPr/>
        </p:nvSpPr>
        <p:spPr>
          <a:xfrm>
            <a:off x="2456000" y="2900000"/>
            <a:ext cx="1670000" cy="130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54849A"/>
            </a:solidFill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NGINX Ingress</a:t>
            </a:r>
          </a:p>
          <a:p>
            <a:pPr algn="ctr">
              <a:buNone/>
            </a:pPr>
            <a:r>
              <a:rPr lang="en-US" sz="1600" dirty="0">
                <a:solidFill>
                  <a:srgbClr val="EBEBEB"/>
                </a:solidFill>
              </a:rPr>
              <a:t>Helm-installed</a:t>
            </a:r>
          </a:p>
        </p:txBody>
      </p:sp>
      <p:cxnSp>
        <p:nvCxnSpPr>
          <p:cNvPr id="33" name="Arrow 2"/>
          <p:cNvCxnSpPr/>
          <p:nvPr/>
        </p:nvCxnSpPr>
        <p:spPr>
          <a:xfrm>
            <a:off x="4126000" y="3550000"/>
            <a:ext cx="200000" cy="0"/>
          </a:xfrm>
          <a:prstGeom prst="straightConnector1">
            <a:avLst/>
          </a:prstGeom>
          <a:ln w="22225">
            <a:solidFill>
              <a:srgbClr val="B01513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 Box 3"/>
          <p:cNvSpPr/>
          <p:nvPr/>
        </p:nvSpPr>
        <p:spPr>
          <a:xfrm>
            <a:off x="4326000" y="2900000"/>
            <a:ext cx="1670000" cy="130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54849A"/>
            </a:solidFill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</a:t>
            </a:r>
          </a:p>
          <a:p>
            <a:pPr algn="ctr">
              <a:buNone/>
            </a:pPr>
            <a:r>
              <a:rPr lang="en-US" sz="1600" dirty="0">
                <a:solidFill>
                  <a:srgbClr val="EBEBEB"/>
                </a:solidFill>
              </a:rPr>
              <a:t>port 80</a:t>
            </a:r>
          </a:p>
        </p:txBody>
      </p:sp>
      <p:cxnSp>
        <p:nvCxnSpPr>
          <p:cNvPr id="35" name="Arrow 3"/>
          <p:cNvCxnSpPr/>
          <p:nvPr/>
        </p:nvCxnSpPr>
        <p:spPr>
          <a:xfrm>
            <a:off x="5996000" y="3550000"/>
            <a:ext cx="200000" cy="0"/>
          </a:xfrm>
          <a:prstGeom prst="straightConnector1">
            <a:avLst/>
          </a:prstGeom>
          <a:ln w="22225">
            <a:solidFill>
              <a:srgbClr val="B01513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 Box 4"/>
          <p:cNvSpPr/>
          <p:nvPr/>
        </p:nvSpPr>
        <p:spPr>
          <a:xfrm>
            <a:off x="6196000" y="2900000"/>
            <a:ext cx="1670000" cy="130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54849A"/>
            </a:solidFill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Pod</a:t>
            </a:r>
          </a:p>
          <a:p>
            <a:pPr algn="ctr">
              <a:buNone/>
            </a:pPr>
            <a:r>
              <a:rPr lang="en-US" sz="1600" dirty="0">
                <a:solidFill>
                  <a:srgbClr val="EBEBEB"/>
                </a:solidFill>
              </a:rPr>
              <a:t>port 5000</a:t>
            </a:r>
          </a:p>
        </p:txBody>
      </p:sp>
      <p:cxnSp>
        <p:nvCxnSpPr>
          <p:cNvPr id="37" name="Arrow 4"/>
          <p:cNvCxnSpPr/>
          <p:nvPr/>
        </p:nvCxnSpPr>
        <p:spPr>
          <a:xfrm>
            <a:off x="7866000" y="3550000"/>
            <a:ext cx="200000" cy="0"/>
          </a:xfrm>
          <a:prstGeom prst="straightConnector1">
            <a:avLst/>
          </a:prstGeom>
          <a:ln w="22225">
            <a:solidFill>
              <a:srgbClr val="B01513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 Box 5"/>
          <p:cNvSpPr/>
          <p:nvPr/>
        </p:nvSpPr>
        <p:spPr>
          <a:xfrm>
            <a:off x="8066000" y="2900000"/>
            <a:ext cx="1670000" cy="130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54849A"/>
            </a:solidFill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Flask App</a:t>
            </a:r>
          </a:p>
        </p:txBody>
      </p:sp>
      <p:cxnSp>
        <p:nvCxnSpPr>
          <p:cNvPr id="39" name="Arrow 5"/>
          <p:cNvCxnSpPr/>
          <p:nvPr/>
        </p:nvCxnSpPr>
        <p:spPr>
          <a:xfrm>
            <a:off x="9736000" y="3550000"/>
            <a:ext cx="200000" cy="0"/>
          </a:xfrm>
          <a:prstGeom prst="straightConnector1">
            <a:avLst/>
          </a:prstGeom>
          <a:ln w="22225">
            <a:solidFill>
              <a:srgbClr val="B01513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 Box 6"/>
          <p:cNvSpPr/>
          <p:nvPr/>
        </p:nvSpPr>
        <p:spPr>
          <a:xfrm>
            <a:off x="9936000" y="2900000"/>
            <a:ext cx="1670000" cy="1300000"/>
          </a:xfrm>
          <a:prstGeom prst="rect">
            <a:avLst/>
          </a:prstGeom>
          <a:solidFill>
            <a:srgbClr val="2F6F73"/>
          </a:solidFill>
          <a:ln w="19050">
            <a:solidFill>
              <a:srgbClr val="54849A"/>
            </a:solidFill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RDS</a:t>
            </a:r>
          </a:p>
          <a:p>
            <a:pPr algn="ctr">
              <a:buNone/>
            </a:pPr>
            <a:r>
              <a:rPr lang="en-US" sz="1600" dirty="0">
                <a:solidFill>
                  <a:srgbClr val="EBEBEB"/>
                </a:solidFill>
              </a:rPr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182070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F6F4-78F5-6756-CB90-B92A06B42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5688" y="2358000"/>
            <a:ext cx="8825658" cy="1000000"/>
          </a:xfrm>
        </p:spPr>
        <p:txBody>
          <a:bodyPr/>
          <a:lstStyle/>
          <a:p>
            <a:pPr algn="ctr"/>
            <a:r>
              <a:rPr lang="en-US" sz="66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9D2D5-9253-9ACC-6211-BEE55AFF5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594" y="3500000"/>
            <a:ext cx="8825658" cy="16000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Questions?</a:t>
            </a:r>
          </a:p>
          <a:p>
            <a:pPr algn="ctr"/>
            <a:r>
              <a:rPr lang="en-US" sz="1800" dirty="0"/>
              <a:t>github.com/solomonyaa/Final_DevOps_Project</a:t>
            </a:r>
          </a:p>
        </p:txBody>
      </p:sp>
    </p:spTree>
    <p:extLst>
      <p:ext uri="{BB962C8B-B14F-4D97-AF65-F5344CB8AC3E}">
        <p14:creationId xmlns:p14="http://schemas.microsoft.com/office/powerpoint/2010/main" val="489646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697</TotalTime>
  <Words>1004</Words>
  <Application>Microsoft Office PowerPoint</Application>
  <PresentationFormat>Widescreen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Ion</vt:lpstr>
      <vt:lpstr>Cloud Tasks</vt:lpstr>
      <vt:lpstr>PowerPoint Presentation</vt:lpstr>
      <vt:lpstr>Tech Stack</vt:lpstr>
      <vt:lpstr>Cloud Architecture</vt:lpstr>
      <vt:lpstr>Github Workflows</vt:lpstr>
      <vt:lpstr>CI Workflow</vt:lpstr>
      <vt:lpstr>CD Workflow</vt:lpstr>
      <vt:lpstr>Terraform Apply</vt:lpstr>
      <vt:lpstr>Deploy to EKS</vt:lpstr>
      <vt:lpstr>Terraform Destroy</vt:lpstr>
      <vt:lpstr>The Dockerfile</vt:lpstr>
      <vt:lpstr>The Dockerfile</vt:lpstr>
      <vt:lpstr>K8S Manifests</vt:lpstr>
      <vt:lpstr>K8S Manifests</vt:lpstr>
      <vt:lpstr>Traffic Flow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Solomon Yaakobov</dc:creator>
  <cp:lastModifiedBy>Solomon Yaakobov</cp:lastModifiedBy>
  <cp:revision>59</cp:revision>
  <dcterms:created xsi:type="dcterms:W3CDTF">2026-06-10T15:35:10Z</dcterms:created>
  <dcterms:modified xsi:type="dcterms:W3CDTF">2026-06-18T21:10:41Z</dcterms:modified>
</cp:coreProperties>
</file>